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06840" y="594360"/>
            <a:ext cx="822960" cy="82296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3" name="Text 1"/>
          <p:cNvSpPr/>
          <p:nvPr/>
        </p:nvSpPr>
        <p:spPr>
          <a:xfrm>
            <a:off x="9006840" y="5943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9921240" y="594360"/>
            <a:ext cx="822960" cy="822960"/>
          </a:xfrm>
          <a:prstGeom prst="ellipse">
            <a:avLst/>
          </a:prstGeom>
          <a:solidFill>
            <a:srgbClr val="128C97"/>
          </a:solidFill>
          <a:ln/>
        </p:spPr>
      </p:sp>
      <p:sp>
        <p:nvSpPr>
          <p:cNvPr id="5" name="Text 3"/>
          <p:cNvSpPr/>
          <p:nvPr/>
        </p:nvSpPr>
        <p:spPr>
          <a:xfrm>
            <a:off x="9921240" y="5943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LUZ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835640" y="594360"/>
            <a:ext cx="822960" cy="822960"/>
          </a:xfrm>
          <a:prstGeom prst="ellipse">
            <a:avLst/>
          </a:prstGeom>
          <a:solidFill>
            <a:srgbClr val="5AA9C4"/>
          </a:solidFill>
          <a:ln/>
        </p:spPr>
      </p:sp>
      <p:sp>
        <p:nvSpPr>
          <p:cNvPr id="7" name="Text 5"/>
          <p:cNvSpPr/>
          <p:nvPr/>
        </p:nvSpPr>
        <p:spPr>
          <a:xfrm>
            <a:off x="10835640" y="5943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128C97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96596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· PTY4614  ·  FASE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5146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FIX&amp;GO</a:t>
            </a:r>
            <a:endParaRPr lang="en-US" sz="6600" dirty="0"/>
          </a:p>
        </p:txBody>
      </p:sp>
      <p:sp>
        <p:nvSpPr>
          <p:cNvPr id="11" name="Text 9"/>
          <p:cNvSpPr/>
          <p:nvPr/>
        </p:nvSpPr>
        <p:spPr>
          <a:xfrm>
            <a:off x="566928" y="361188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funcional de aplicación móvil para servicios técnicos en Santiago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66928" y="4434840"/>
            <a:ext cx="4754880" cy="0"/>
          </a:xfrm>
          <a:prstGeom prst="line">
            <a:avLst/>
          </a:prstGeom>
          <a:noFill/>
          <a:ln w="12700">
            <a:solidFill>
              <a:srgbClr val="3D64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6634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Equipo: 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Felipe Arce · Daniel Baeza · Benjamín Olmedo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5074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Informática</a:t>
            </a:r>
            <a:pPr indent="0" marL="0">
              <a:buNone/>
            </a:pPr>
            <a:r>
              <a:rPr lang="en-US" sz="1250" dirty="0">
                <a:solidFill>
                  <a:srgbClr val="3D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Sede Plaza Oeste</a:t>
            </a:r>
            <a:pPr indent="0" marL="0">
              <a:buNone/>
            </a:pPr>
            <a:r>
              <a:rPr lang="en-US" sz="1250" dirty="0">
                <a:solidFill>
                  <a:srgbClr val="3D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Estudiante — Definición de Proyecto APT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128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DESCRIPCIÓN DEL PROYECTO APT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es FIX&amp;GO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109960" cy="914400"/>
          </a:xfrm>
          <a:prstGeom prst="roundRect">
            <a:avLst>
              <a:gd name="adj" fmla="val 10000"/>
            </a:avLst>
          </a:prstGeom>
          <a:solidFill>
            <a:srgbClr val="0B3B5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5087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funcional de aplicación móvil para servicios técnicos en Santiago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539496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1E6E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263640" y="2697480"/>
            <a:ext cx="539496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1E6E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29260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28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DE DESEMPEÑO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29184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▪"/>
            </a:pPr>
            <a:r>
              <a:rPr lang="en-US" sz="135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de aplicaciones móviles e integración de software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▪"/>
            </a:pPr>
            <a:r>
              <a:rPr lang="en-US" sz="135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proyectos informáticos y aseguramiento de calidad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▪"/>
            </a:pPr>
            <a:r>
              <a:rPr lang="en-US" sz="135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Arquitectura, modelado de datos y despliegue local de servicios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583680" y="29260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28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COMPETENCIAS APLICADAS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83680" y="329184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soluciones de software con proceso sistemático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modelos de datos que soporten los requisitos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pruebas de certificación y aseguramiento de calidad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 proyectos y alternativas para tomar decisiones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metodologías ágiles de desarrollo de software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FIX&amp;GO — Fase 1: Definición del Proyecto APT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128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Relevancia del proyecto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1E6E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18745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es difícil encontrar y comparar servicios técnicos del hogar por recomendaciones o redes sociales: la información sobre especialidad, cobertura y precio está dispersa, y el acuerdo entre cliente y prestador tiene poca trazabilidad.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16002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1E6E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46520" y="1874520"/>
            <a:ext cx="457200" cy="457200"/>
          </a:xfrm>
          <a:prstGeom prst="ellipse">
            <a:avLst/>
          </a:prstGeom>
          <a:solidFill>
            <a:srgbClr val="128C97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086600" y="18745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propuesta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46520" y="246888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MVP centrado en Santiago para servicios de gas, electricidad y agua, que reúne búsqueda, solicitud, cotización y seguimiento en un solo recorrido móvil entre cliente y prestador.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9050">
            <a:solidFill>
              <a:srgbClr val="F2A9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840480"/>
            <a:ext cx="48463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B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Confianza 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apoya en información visible y estados claros. La certificación profesional es simulada y no constituye una verificación oficial.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172200" y="384048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9050">
            <a:solidFill>
              <a:srgbClr val="0B3B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840480"/>
            <a:ext cx="48463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B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utilidad de la propuesta se evaluará con pruebas exploratorias, sin afirmar que exista validación comercial previa.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FIX&amp;GO — Fase 1: Definición del Proyecto APT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128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Descripción técnica del MVP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móvil funcional para iOS y Android, con cuentas de prueba y persistencia compartida entre teléfonos.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94960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1E6E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263640" y="1965960"/>
            <a:ext cx="5394960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1E6E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219456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28C97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1945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2743200"/>
            <a:ext cx="48463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Registrarse e iniciar sesión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por categoría y comuna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perfiles de prestadores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Solicitar un servicio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Aceptar o rechazar cotización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Seguir el trabajo y valorar al finalizar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583680" y="219456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21945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PRESTADOR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0" y="274320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solicitudes recibidas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Cotizar el servicio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Actualizar el estado del trabajo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0" y="384048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0B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alcance:  </a:t>
            </a:r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pagos reales, login social, chat en tiempo real, GPS y publicación en tiendas. Pagos y antecedentes profesionales son demostrativos.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548640" y="498348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0B3B5C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983480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920240" y="4983480"/>
            <a:ext cx="9509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+ Expo + TypeScript   ·   API monolítica en Django REST Framework   ·   SQLite local (Mac M1)   ·   Expo Go vía QR en red compartida   ·   Django Admin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FIX&amp;GO — Fase 1: Definición del Proyecto APT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128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Pertinencia con el perfil de egreso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integra análisis de requisitos, diseño de arquitectura, modelado relacional, desarrollo, pruebas y gestión del ciclo de vida del software.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5661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1E6E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965960" y="2377440"/>
            <a:ext cx="731520" cy="731520"/>
          </a:xfrm>
          <a:prstGeom prst="ellipse">
            <a:avLst/>
          </a:prstGeom>
          <a:solidFill>
            <a:srgbClr val="128C97"/>
          </a:solidFill>
          <a:ln/>
        </p:spPr>
      </p:sp>
      <p:sp>
        <p:nvSpPr>
          <p:cNvPr id="7" name="Text 5"/>
          <p:cNvSpPr/>
          <p:nvPr/>
        </p:nvSpPr>
        <p:spPr>
          <a:xfrm>
            <a:off x="1965960" y="23774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31546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Benjamín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47472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 toda la app, la API, la base de datos, la integración, la configuración técnica de Docker y las pruebas automatizadas.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0" y="2148840"/>
            <a:ext cx="35661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1E6E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715000" y="2377440"/>
            <a:ext cx="731520" cy="731520"/>
          </a:xfrm>
          <a:prstGeom prst="ellipse">
            <a:avLst/>
          </a:prstGeom>
          <a:solidFill>
            <a:srgbClr val="0B3B5C"/>
          </a:solidFill>
          <a:ln/>
        </p:spPr>
      </p:sp>
      <p:sp>
        <p:nvSpPr>
          <p:cNvPr id="12" name="Text 10"/>
          <p:cNvSpPr/>
          <p:nvPr/>
        </p:nvSpPr>
        <p:spPr>
          <a:xfrm>
            <a:off x="5715000" y="23774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80560" y="31546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Daniel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26280" y="347472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 requisitos, planificación e informes del proyecto.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46720" y="2148840"/>
            <a:ext cx="35661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1E6E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464040" y="2377440"/>
            <a:ext cx="731520" cy="73152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7" name="Text 15"/>
          <p:cNvSpPr/>
          <p:nvPr/>
        </p:nvSpPr>
        <p:spPr>
          <a:xfrm>
            <a:off x="9464040" y="23774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229600" y="31546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Felipe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75320" y="347472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 pruebas manuales, registro de resultados y material audiovisual.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343400"/>
            <a:ext cx="11109960" cy="1051560"/>
          </a:xfrm>
          <a:prstGeom prst="roundRect">
            <a:avLst>
              <a:gd name="adj" fmla="val 6957"/>
            </a:avLst>
          </a:prstGeom>
          <a:solidFill>
            <a:srgbClr val="EAF3F5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343400"/>
            <a:ext cx="104241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B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arquitectura, modelo entidad-relación y UML (casos de uso, secuencia principal y componentes; clases cuando aporte al diseño).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B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entregables y el historial del repositorio permiten identificar los aportes individuales dentro de la evidencia grupal.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FIX&amp;GO — Fase 1: Definición del Proyecto APT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128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Factibilidad del proyecto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0B3B5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91640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77240" y="256032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de planificación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(S1–4 definición · S5–15 desarrollo · S17–18 defensa)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97680" y="155448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0B3B5C"/>
          </a:solidFill>
          <a:ln/>
        </p:spPr>
      </p:sp>
      <p:sp>
        <p:nvSpPr>
          <p:cNvPr id="8" name="Text 6"/>
          <p:cNvSpPr/>
          <p:nvPr/>
        </p:nvSpPr>
        <p:spPr>
          <a:xfrm>
            <a:off x="4297680" y="1691640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h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26280" y="256032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semanales flexibles de Benjamín en S5–15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(66 h brutas: ~56 planificadas + 10 de reserva)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0" y="155448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0B3B5C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1691640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275320" y="256032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 de inversión adicional: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 M1, teléfonos y conectividad ya existentes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111099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1E6E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3977640"/>
            <a:ext cx="104241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y Felipe asumen la mayor parte de la documentación y las pruebas manuales.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nube ni dominio contratados; ChatGPT Plus es un recurso de apoyo ya disponible, sin imputar toda su suscripción como gasto del proyecto.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comisiones y proyecciones comerciales no financian este MVP académico.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alcance se prioriza según capacidad; se ensayarán Wi-Fi y punto de acceso, con respaldo de datos y video de la demo.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FIX&amp;GO — Fase 1: Definición del Proyecto APT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128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general y específicos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109960" cy="960120"/>
          </a:xfrm>
          <a:prstGeom prst="roundRect">
            <a:avLst>
              <a:gd name="adj" fmla="val 7619"/>
            </a:avLst>
          </a:prstGeom>
          <a:solidFill>
            <a:srgbClr val="128C97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63040"/>
            <a:ext cx="10515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y validar, al cierre de la semana 15, un MVP móvil funcional de FIX&amp;GO para iOS y Android que permita completar el recorrido de contratación entre cliente y prestador de servicios de gas, electricidad y agua en Santiago, conservando los datos en un entorno local.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11099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1E6E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715768"/>
            <a:ext cx="438912" cy="438912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7157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17320" y="2606040"/>
            <a:ext cx="10058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visión del producto, usuarios, alcance y backlog priorizado con criterios de aceptación.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328416"/>
            <a:ext cx="111099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1E6E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3438144"/>
            <a:ext cx="438912" cy="438912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43814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17320" y="3328416"/>
            <a:ext cx="10058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arquitectura, modelo relacional, UML y requisitos no funcionales del MVP.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050792"/>
            <a:ext cx="111099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1E6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4160520"/>
            <a:ext cx="438912" cy="438912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1605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4050792"/>
            <a:ext cx="10058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registro, acceso por rol, búsqueda, solicitud, cotización, seguimiento y valoración con persistencia.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773168"/>
            <a:ext cx="111099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1E6E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4882896"/>
            <a:ext cx="438912" cy="438912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88289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417320" y="4773168"/>
            <a:ext cx="10058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Preparar despliegue local reproducible de la API con Docker, variables de entorno y manual de ejecución.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495544"/>
            <a:ext cx="111099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1E6E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77240" y="5605272"/>
            <a:ext cx="438912" cy="438912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560527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417320" y="5495544"/>
            <a:ext cx="10058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el recorrido en ambos sistemas móviles mediante pruebas unitarias, de integración, seguridad y rendimiento acotado.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FIX&amp;GO — Fase 1: Definición del Proyecto APT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128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Kanban en tres fases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Ciclos semanales de planificación y revisión. Daniel mantiene un Product Backlog priorizado y un tablero (pendientes / en curso / en revisión / terminado); cada historia tiene responsable y criterios de aceptación. El registro semanal cumple la función de Sprint Backlog, sin declarar Scrum completo.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3611880" cy="374904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E1E6E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33172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128C97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743200"/>
            <a:ext cx="3611880" cy="365760"/>
          </a:xfrm>
          <a:prstGeom prst="rect">
            <a:avLst/>
          </a:prstGeom>
          <a:solidFill>
            <a:srgbClr val="128C97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404872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2752344"/>
            <a:ext cx="3154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1–4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04672" y="3291840"/>
            <a:ext cx="30998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y justificación del MVP: Product Vision, backlog inicial, requisitos no funcionales, diseño preliminar, plan de trabajo y Gantt. EVA 1 (encargo grupal + presentación, 20% de la nota semestral, evaluada con rúbrica).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2331720"/>
            <a:ext cx="3611880" cy="374904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E1E6E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97680" y="233172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0B3B5C"/>
          </a:solidFill>
          <a:ln/>
        </p:spPr>
      </p:sp>
      <p:sp>
        <p:nvSpPr>
          <p:cNvPr id="13" name="Shape 11"/>
          <p:cNvSpPr/>
          <p:nvPr/>
        </p:nvSpPr>
        <p:spPr>
          <a:xfrm>
            <a:off x="4297680" y="2743200"/>
            <a:ext cx="3611880" cy="365760"/>
          </a:xfrm>
          <a:prstGeom prst="rect">
            <a:avLst/>
          </a:prstGeom>
          <a:solidFill>
            <a:srgbClr val="0B3B5C"/>
          </a:solidFill>
          <a:ln/>
        </p:spPr>
      </p:sp>
      <p:sp>
        <p:nvSpPr>
          <p:cNvPr id="14" name="Text 12"/>
          <p:cNvSpPr/>
          <p:nvPr/>
        </p:nvSpPr>
        <p:spPr>
          <a:xfrm>
            <a:off x="4526280" y="2404872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26280" y="2752344"/>
            <a:ext cx="3154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5–15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53712" y="3291840"/>
            <a:ext cx="30998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incremental: actualización metodológica en S6, avance sin presentación en S10, y entrega del MVP, informe y presentación en S15. Definition of Done: cumplir criterios, persistir datos, respetar permisos y pruebas sin errores bloqueantes.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46720" y="2331720"/>
            <a:ext cx="3611880" cy="374904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E1E6E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046720" y="233172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F2A93B"/>
          </a:solidFill>
          <a:ln/>
        </p:spPr>
      </p:sp>
      <p:sp>
        <p:nvSpPr>
          <p:cNvPr id="19" name="Shape 17"/>
          <p:cNvSpPr/>
          <p:nvPr/>
        </p:nvSpPr>
        <p:spPr>
          <a:xfrm>
            <a:off x="8046720" y="2743200"/>
            <a:ext cx="3611880" cy="365760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20" name="Text 18"/>
          <p:cNvSpPr/>
          <p:nvPr/>
        </p:nvSpPr>
        <p:spPr>
          <a:xfrm>
            <a:off x="8275320" y="2404872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275320" y="2752344"/>
            <a:ext cx="3154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16–18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302752" y="3291840"/>
            <a:ext cx="30998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Organizar evidencias, incorporar retroalimentación y ensayar la defensa. El informe de cierre explica problema, diferencia y valor agregado. GitHub reúne documentación y código hasta S18.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FIX&amp;GO — Fase 1: Definición del Proyecto APT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128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se evalúa en cada etapa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406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1E6E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83080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128C9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83080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GRUPAL · EVA 1 · S1–4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822960" y="2176272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Definición y planificación del MVP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22960" y="2697480"/>
            <a:ext cx="4892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1.5 completa: visión del producto, backlog priorizado, alcance, requisitos y diseño preliminar, plan y Gantt.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172200" y="1554480"/>
            <a:ext cx="54406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1E6E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46520" y="1783080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1783080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GRUPAL · EVA 1 · S1–4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446520" y="2176272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Presentación y plan de mejoras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46520" y="2697480"/>
            <a:ext cx="4892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Diapositivas y exposición del equipo (20% de la nota semestral). Tras la rúbrica, se registran fortalezas, mejoras y acciones para la Fase 2.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548640" y="4069080"/>
            <a:ext cx="54406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1E6E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4297680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0B3B5C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297680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GRUPAL · AVANCE · S10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22960" y="4690872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parcial y artefactos versionados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22960" y="5212080"/>
            <a:ext cx="4892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por rol, búsqueda, solicitud y cotización operativos en el teléfono; backlog, tablero, Definition of Done y plan de pruebas.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6172200" y="4069080"/>
            <a:ext cx="54406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1E6E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46520" y="4297680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6B3FA0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4297680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GRUPAL · FINAL · S15 y S17–18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446520" y="4690872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operativo y dossier de cierre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46520" y="5212080"/>
            <a:ext cx="4892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16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App, informe y presentación; pruebas unitarias, de integración, seguridad y rendimiento; manual, Docker, defensa y portafolio.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FIX&amp;GO — Fase 1: Definición del Proyecto APT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128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TRABAJO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Carta Gantt — 18 semanas, 3 fases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377440"/>
            <a:ext cx="2336800" cy="685800"/>
          </a:xfrm>
          <a:prstGeom prst="roundRect">
            <a:avLst>
              <a:gd name="adj" fmla="val 8000"/>
            </a:avLst>
          </a:prstGeom>
          <a:solidFill>
            <a:srgbClr val="128C97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377440"/>
            <a:ext cx="224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· Definición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159760" y="2377440"/>
            <a:ext cx="6426200" cy="685800"/>
          </a:xfrm>
          <a:prstGeom prst="roundRect">
            <a:avLst>
              <a:gd name="adj" fmla="val 8000"/>
            </a:avLst>
          </a:prstGeom>
          <a:solidFill>
            <a:srgbClr val="0B3B5C"/>
          </a:solidFill>
          <a:ln/>
        </p:spPr>
      </p:sp>
      <p:sp>
        <p:nvSpPr>
          <p:cNvPr id="7" name="Text 5"/>
          <p:cNvSpPr/>
          <p:nvPr/>
        </p:nvSpPr>
        <p:spPr>
          <a:xfrm>
            <a:off x="3205480" y="2377440"/>
            <a:ext cx="6334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Implementación incremental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585960" y="2377440"/>
            <a:ext cx="1752600" cy="685800"/>
          </a:xfrm>
          <a:prstGeom prst="roundRect">
            <a:avLst>
              <a:gd name="adj" fmla="val 8000"/>
            </a:avLst>
          </a:prstGeom>
          <a:solidFill>
            <a:srgbClr val="F2A93B"/>
          </a:solidFill>
          <a:ln/>
        </p:spPr>
      </p:sp>
      <p:sp>
        <p:nvSpPr>
          <p:cNvPr id="9" name="Text 7"/>
          <p:cNvSpPr/>
          <p:nvPr/>
        </p:nvSpPr>
        <p:spPr>
          <a:xfrm>
            <a:off x="9631680" y="2377440"/>
            <a:ext cx="1661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· Cierre y defensa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3090672"/>
            <a:ext cx="675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945640" y="3090672"/>
            <a:ext cx="675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114040" y="3090672"/>
            <a:ext cx="675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282440" y="3090672"/>
            <a:ext cx="675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450840" y="3090672"/>
            <a:ext cx="675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619240" y="3090672"/>
            <a:ext cx="675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787640" y="3090672"/>
            <a:ext cx="675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956040" y="3090672"/>
            <a:ext cx="675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124440" y="3090672"/>
            <a:ext cx="675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0" y="3081528"/>
            <a:ext cx="777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785364" y="3566160"/>
            <a:ext cx="164592" cy="164592"/>
          </a:xfrm>
          <a:prstGeom prst="ellipse">
            <a:avLst/>
          </a:prstGeom>
          <a:solidFill>
            <a:srgbClr val="0B3B5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67660" y="3730752"/>
            <a:ext cx="0" cy="320040"/>
          </a:xfrm>
          <a:prstGeom prst="line">
            <a:avLst/>
          </a:prstGeom>
          <a:noFill/>
          <a:ln w="12700">
            <a:solidFill>
              <a:srgbClr val="C7D0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90564" y="3566160"/>
            <a:ext cx="164592" cy="164592"/>
          </a:xfrm>
          <a:prstGeom prst="ellipse">
            <a:avLst/>
          </a:prstGeom>
          <a:solidFill>
            <a:srgbClr val="0B3B5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72860" y="3730752"/>
            <a:ext cx="0" cy="320040"/>
          </a:xfrm>
          <a:prstGeom prst="line">
            <a:avLst/>
          </a:prstGeom>
          <a:noFill/>
          <a:ln w="12700">
            <a:solidFill>
              <a:srgbClr val="C7D0D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11564" y="3566160"/>
            <a:ext cx="164592" cy="164592"/>
          </a:xfrm>
          <a:prstGeom prst="ellipse">
            <a:avLst/>
          </a:prstGeom>
          <a:solidFill>
            <a:srgbClr val="0B3B5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293860" y="3730752"/>
            <a:ext cx="0" cy="320040"/>
          </a:xfrm>
          <a:prstGeom prst="line">
            <a:avLst/>
          </a:prstGeom>
          <a:noFill/>
          <a:ln w="12700">
            <a:solidFill>
              <a:srgbClr val="C7D0D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64164" y="3566160"/>
            <a:ext cx="164592" cy="164592"/>
          </a:xfrm>
          <a:prstGeom prst="ellipse">
            <a:avLst/>
          </a:prstGeom>
          <a:solidFill>
            <a:srgbClr val="0B3B5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046460" y="3730752"/>
            <a:ext cx="0" cy="320040"/>
          </a:xfrm>
          <a:prstGeom prst="line">
            <a:avLst/>
          </a:prstGeom>
          <a:noFill/>
          <a:ln w="12700">
            <a:solidFill>
              <a:srgbClr val="C7D0D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20624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1E6E9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48640" y="434340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85800" y="475488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 1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5800" y="50749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grupal · 20%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182112" y="420624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1E6E9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182112" y="434340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S10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3319272" y="475488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319272" y="50749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+ informe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815584" y="420624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1E6E9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5815584" y="434340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S15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5952744" y="475488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MVP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952744" y="50749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+ manual + video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449056" y="420624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1E6E9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8449056" y="434340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S18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8586216" y="475488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8586216" y="50749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Portafolio y reflexión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actividades distribuidas en las tres fases, cada una con responsable asignado (equipo, Daniel, Felipe o Benjamín) y meta de horas técnicas.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FIX&amp;GO — Fase 1: Definición del Proyecto APT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B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128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SÍNTESIS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base sólida para construir, en 18 semanas, un MVP que conecta clientes y prestadores de servicios técnicos con confianza y trazabilidad.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60604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13476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743200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52044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0" y="260604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13476B"/>
          </a:solidFill>
          <a:ln/>
        </p:spPr>
      </p:sp>
      <p:sp>
        <p:nvSpPr>
          <p:cNvPr id="8" name="Text 6"/>
          <p:cNvSpPr/>
          <p:nvPr/>
        </p:nvSpPr>
        <p:spPr>
          <a:xfrm>
            <a:off x="4297680" y="2743200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480560" y="352044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servicios: gas, electricidad, agua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260604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13476B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743200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229600" y="352044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 de inversión adicional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617720"/>
            <a:ext cx="11109960" cy="1417320"/>
          </a:xfrm>
          <a:prstGeom prst="roundRect">
            <a:avLst>
              <a:gd name="adj" fmla="val 5161"/>
            </a:avLst>
          </a:prstGeom>
          <a:solidFill>
            <a:srgbClr val="0E4363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617720"/>
            <a:ext cx="104241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hito: 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lista para EVA 1 — definición, fundamentación, objetivos, metodología y plan de trabajo del Proyecto APT.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64465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FIX&amp;GO  ·  Felipe Arce · Daniel Baeza · Benjamín Olmedo  ·  Capstone PTY4614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2026-09-09T19:16:02Z</dcterms:created>
  <dcterms:modified xsi:type="dcterms:W3CDTF">2026-09-09T19:16:02Z</dcterms:modified>
</cp:coreProperties>
</file>