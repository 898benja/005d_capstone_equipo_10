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2c453b9bcb432e" /><Relationship Type="http://schemas.openxmlformats.org/officeDocument/2006/relationships/extended-properties" Target="/docProps/app.xml" Id="Ref970ed5f25240f4" /><Relationship Type="http://schemas.openxmlformats.org/officeDocument/2006/relationships/officeDocument" Target="/ppt/presentation.xml" Id="Rd366289b22ef4a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82bc466d644c86"/>
  </p:sldMasterIdLst>
  <p:notesMasterIdLst>
    <p:notesMasterId xmlns:r="http://schemas.openxmlformats.org/officeDocument/2006/relationships" r:id="Rb5c3366896e3445d"/>
  </p:notesMasterIdLst>
  <p:sldIdLst>
    <p:sldId xmlns:r="http://schemas.openxmlformats.org/officeDocument/2006/relationships" id="256" r:id="R3a1a6a4394bb45cb"/>
    <p:sldId xmlns:r="http://schemas.openxmlformats.org/officeDocument/2006/relationships" id="257" r:id="R3afbffa3dd934289"/>
    <p:sldId xmlns:r="http://schemas.openxmlformats.org/officeDocument/2006/relationships" id="258" r:id="Ra1ff25025879428f"/>
    <p:sldId xmlns:r="http://schemas.openxmlformats.org/officeDocument/2006/relationships" id="259" r:id="Rb274e1cb4c904708"/>
    <p:sldId xmlns:r="http://schemas.openxmlformats.org/officeDocument/2006/relationships" id="260" r:id="R22317d1437fc444e"/>
    <p:sldId xmlns:r="http://schemas.openxmlformats.org/officeDocument/2006/relationships" id="261" r:id="Rd5bc921e3d264e2a"/>
    <p:sldId xmlns:r="http://schemas.openxmlformats.org/officeDocument/2006/relationships" id="262" r:id="R125a660437ed4609"/>
    <p:sldId xmlns:r="http://schemas.openxmlformats.org/officeDocument/2006/relationships" id="263" r:id="Rce23783da30542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55cf972f1042b3" /><Relationship Type="http://schemas.openxmlformats.org/officeDocument/2006/relationships/slideMaster" Target="/ppt/slideMasters/slideMaster1.xml" Id="R5382bc466d644c86" /><Relationship Type="http://schemas.openxmlformats.org/officeDocument/2006/relationships/notesMaster" Target="/ppt/notesMasters/notesMaster1.xml" Id="Rb5c3366896e3445d" /><Relationship Type="http://schemas.openxmlformats.org/officeDocument/2006/relationships/presProps" Target="/ppt/presProps.xml" Id="R77121614cbcd4cb3" /><Relationship Type="http://schemas.openxmlformats.org/officeDocument/2006/relationships/viewProps" Target="/ppt/viewProps.xml" Id="R1c4a9c7a4a4242ec" /><Relationship Type="http://schemas.openxmlformats.org/officeDocument/2006/relationships/tableStyles" Target="/ppt/tableStyles.xml" Id="Rcba82646252e4c70" /><Relationship Type="http://schemas.openxmlformats.org/officeDocument/2006/relationships/slide" Target="/ppt/slides/slide1.xml" Id="R3a1a6a4394bb45cb" /><Relationship Type="http://schemas.openxmlformats.org/officeDocument/2006/relationships/slide" Target="/ppt/slides/slide2.xml" Id="R3afbffa3dd934289" /><Relationship Type="http://schemas.openxmlformats.org/officeDocument/2006/relationships/slide" Target="/ppt/slides/slide3.xml" Id="Ra1ff25025879428f" /><Relationship Type="http://schemas.openxmlformats.org/officeDocument/2006/relationships/slide" Target="/ppt/slides/slide4.xml" Id="Rb274e1cb4c904708" /><Relationship Type="http://schemas.openxmlformats.org/officeDocument/2006/relationships/slide" Target="/ppt/slides/slide5.xml" Id="R22317d1437fc444e" /><Relationship Type="http://schemas.openxmlformats.org/officeDocument/2006/relationships/slide" Target="/ppt/slides/slide6.xml" Id="Rd5bc921e3d264e2a" /><Relationship Type="http://schemas.openxmlformats.org/officeDocument/2006/relationships/slide" Target="/ppt/slides/slide7.xml" Id="R125a660437ed4609" /><Relationship Type="http://schemas.openxmlformats.org/officeDocument/2006/relationships/slide" Target="/ppt/slides/slide8.xml" Id="Rce23783da30542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6055d23c8941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704b66b1c24d33" /><Relationship Type="http://schemas.openxmlformats.org/officeDocument/2006/relationships/notesMaster" Target="/ppt/notesMasters/notesMaster1.xml" Id="Rdbc08c0b327d43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0da5296a5f4334" /><Relationship Type="http://schemas.openxmlformats.org/officeDocument/2006/relationships/notesMaster" Target="/ppt/notesMasters/notesMaster1.xml" Id="Rd28baa6bad6842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6e01c63a704694" /><Relationship Type="http://schemas.openxmlformats.org/officeDocument/2006/relationships/notesMaster" Target="/ppt/notesMasters/notesMaster1.xml" Id="R3bcbb397e6f643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cbb60d8e994ea8" /><Relationship Type="http://schemas.openxmlformats.org/officeDocument/2006/relationships/notesMaster" Target="/ppt/notesMasters/notesMaster1.xml" Id="R8fce98efff7b40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10f4731128404b" /><Relationship Type="http://schemas.openxmlformats.org/officeDocument/2006/relationships/notesMaster" Target="/ppt/notesMasters/notesMaster1.xml" Id="Ra1aa048392e941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70706c0c764e91" /><Relationship Type="http://schemas.openxmlformats.org/officeDocument/2006/relationships/notesMaster" Target="/ppt/notesMasters/notesMaster1.xml" Id="Ra35b014c14684a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314b2c59894215" /><Relationship Type="http://schemas.openxmlformats.org/officeDocument/2006/relationships/notesMaster" Target="/ppt/notesMasters/notesMaster1.xml" Id="R36642e8140e04d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07f28fd0e943be" /><Relationship Type="http://schemas.openxmlformats.org/officeDocument/2006/relationships/notesMaster" Target="/ppt/notesMasters/notesMaster1.xml" Id="Rf2be6ee8882f41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Equipo FIX&amp;GO, Guía 1.5 EVA 1 (2026); Expo, Create your first app, https://docs.expo.dev/tutorial/create-your-first-app/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Equipo FIX&amp;GO, Guía 1.5 EVA 1 (2026); Django REST framework, https://www.django-rest-framework.org/tutorial/quickstart/; Docker, https://docs.docker.com/get-started/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Equipo FIX&amp;GO, Guía 1.5 EVA 1 (2026). Las horas son planificación académica, no un costo monetario.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Equipo FIX&amp;GO, Guía 1.5 EVA 1 (2026). Distribución individual acordada por el equipo.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f8f4cdd784d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374fdf3f03451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LIGH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5e21b20b614baf" /><Relationship Type="http://schemas.openxmlformats.org/officeDocument/2006/relationships/slideLayout" Target="/ppt/slideLayouts/slideLayout1.xml" Id="Re199bc93bf5d4099" /><Relationship Type="http://schemas.openxmlformats.org/officeDocument/2006/relationships/slideLayout" Target="/ppt/slideLayouts/slideLayout2.xml" Id="Raf5005a975254de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99bc93bf5d4099"/>
    <p:sldLayoutId xmlns:r="http://schemas.openxmlformats.org/officeDocument/2006/relationships" id="2147483650" r:id="Raf5005a975254de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79683d6254a18" /><Relationship Type="http://schemas.openxmlformats.org/officeDocument/2006/relationships/image" Target="/ppt/media/image.png" Id="R77b53cbdfb9b4495" /><Relationship Type="http://schemas.openxmlformats.org/officeDocument/2006/relationships/image" Target="/ppt/media/image.jpeg" Id="Ra44e332ca6e841b9" /><Relationship Type="http://schemas.openxmlformats.org/officeDocument/2006/relationships/notesSlide" Target="/ppt/notesSlides/notesSlide1.xml" Id="R7b4a058e7b8a4a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88a60b23f4aa0" /><Relationship Type="http://schemas.openxmlformats.org/officeDocument/2006/relationships/image" Target="/ppt/media/image2.png" Id="R674a8706e2c94e3c" /><Relationship Type="http://schemas.openxmlformats.org/officeDocument/2006/relationships/notesSlide" Target="/ppt/notesSlides/notesSlide2.xml" Id="R221a59c9f7af4e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3d01f7c9a4e6b" /><Relationship Type="http://schemas.openxmlformats.org/officeDocument/2006/relationships/image" Target="/ppt/media/image3.png" Id="Rcfc6dde33caa4965" /><Relationship Type="http://schemas.openxmlformats.org/officeDocument/2006/relationships/notesSlide" Target="/ppt/notesSlides/notesSlide3.xml" Id="R8efad5b5bca942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4a7b01c804011" /><Relationship Type="http://schemas.openxmlformats.org/officeDocument/2006/relationships/notesSlide" Target="/ppt/notesSlides/notesSlide4.xml" Id="R30d0dd1c03d243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23d26b0cd401b" /><Relationship Type="http://schemas.openxmlformats.org/officeDocument/2006/relationships/image" Target="/ppt/media/image4.png" Id="R666b8952ca57442c" /><Relationship Type="http://schemas.openxmlformats.org/officeDocument/2006/relationships/image" Target="/ppt/media/image5.png" Id="R0193d1eacfcf4fdc" /><Relationship Type="http://schemas.openxmlformats.org/officeDocument/2006/relationships/notesSlide" Target="/ppt/notesSlides/notesSlide5.xml" Id="Rb1e88b84b02d4a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25a815f494c12" /><Relationship Type="http://schemas.openxmlformats.org/officeDocument/2006/relationships/image" Target="/ppt/media/image6.png" Id="Rf1adddf3479748ee" /><Relationship Type="http://schemas.openxmlformats.org/officeDocument/2006/relationships/notesSlide" Target="/ppt/notesSlides/notesSlide6.xml" Id="Refa5cbeeabbf4e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607f366c2432d" /><Relationship Type="http://schemas.openxmlformats.org/officeDocument/2006/relationships/notesSlide" Target="/ppt/notesSlides/notesSlide7.xml" Id="Rad5267bfc5b84c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c4ece81f84324" /><Relationship Type="http://schemas.openxmlformats.org/officeDocument/2006/relationships/notesSlide" Target="/ppt/notesSlides/notesSlide8.xml" Id="Rbde2cbdf593149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0276E0D-CA12-4C83-A05C-E288CA1F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D4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74B451-4C26-4E3B-847D-2DB86367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173736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53cbdfb9b44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1792"/>
            <a:ext cx="1463040" cy="356616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BD73301-DE5C-4F32-858C-FB91FCCE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796" y="1417320"/>
            <a:ext cx="4023360" cy="178308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52400" dist="38100" dir="5400000" sx="100000" sy="100000" kx="0" ky="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e332ca6e841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7116" y="1627632"/>
            <a:ext cx="3474720" cy="137160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00175675-8BD7-41E9-A5BC-A6878D54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0440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DEFINICIÓN DEL PROYECTO APT</a:t>
            </a:r>
            <a:endParaRPr sz="34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3AC217D-E8F3-4E77-ADBA-3455441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96512"/>
            <a:ext cx="1109167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i="1">
                <a:solidFill>
                  <a:srgbClr val="C9D6DD"/>
                </a:solidFill>
                <a:latin typeface="Cambria"/>
                <a:ea typeface="Cambria"/>
                <a:cs typeface="Cambria"/>
              </a:rPr>
              <a:t>Fase 1 · Resumen Ejecutivo</a:t>
            </a:r>
            <a:endParaRPr sz="19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D5F55AC3-A81E-4528-94D9-89DFB901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516" y="4663440"/>
            <a:ext cx="621792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40E"/>
          </a:solidFill>
        </p:spPr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37C91100-42C0-491A-8265-07BC2C05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516" y="4663440"/>
            <a:ext cx="6217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C2D40"/>
                </a:solidFill>
                <a:latin typeface="Calibri"/>
                <a:ea typeface="Calibri"/>
                <a:cs typeface="Calibri"/>
              </a:rPr>
              <a:t>MVP ACADÉMICO  ·  PROYECTO DE TÍTULO — CAPSTONE PTY4614</a:t>
            </a:r>
            <a:endParaRPr sz="11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E8AE09B-F416-401D-AA89-6B500D4F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23560"/>
            <a:ext cx="110916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Benjamín Olmedo   ·   Felipe Arce   ·   Daniel Baeza</a:t>
            </a:r>
            <a:endParaRPr sz="14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67C95DE-8F0D-4F8C-A3E9-802F3834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916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FB4C2"/>
                </a:solidFill>
                <a:latin typeface="Calibri"/>
                <a:ea typeface="Calibri"/>
                <a:cs typeface="Calibri"/>
              </a:rPr>
              <a:t>Sección de portafolio APT122-005D   ·   8 de septiembre de 2026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564908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E658AF-FF91-4200-A51E-B602D09D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B8790A"/>
                </a:solidFill>
                <a:latin typeface="Calibri"/>
                <a:ea typeface="Calibri"/>
                <a:cs typeface="Calibri"/>
              </a:rPr>
              <a:t>CONTEXTO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65629B3-3CAC-46FA-B09B-B3DC96B3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C2D40"/>
                </a:solidFill>
                <a:latin typeface="Cambria"/>
                <a:ea typeface="Cambria"/>
                <a:cs typeface="Cambria"/>
              </a:rPr>
              <a:t>El Problema y la Oportunidad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F7BE684-F2BC-47CE-9B74-489791D2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3291840" cy="420624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6F8F9"/>
          </a:solidFill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a8706e2c94e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37360" y="214884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525A23C-8030-40F9-859F-25ADE17C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C2D40"/>
                </a:solidFill>
                <a:latin typeface="Calibri"/>
                <a:ea typeface="Calibri"/>
                <a:cs typeface="Calibri"/>
              </a:rPr>
              <a:t>Mercado disperso e informal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906A6AB-4699-4FD1-9D0E-2162D1E3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274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67581"/>
                </a:solidFill>
                <a:latin typeface="Calibri"/>
                <a:ea typeface="Calibri"/>
                <a:cs typeface="Calibri"/>
              </a:rPr>
              <a:t>Servicios técnicos del hogar en Chile: gas, electricidad y agua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C392BB2-12C6-4D0B-A4E2-64E1193A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81051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E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D6D955-CD17-4DED-B68A-D6908071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737360"/>
            <a:ext cx="71323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50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La contratación de servicios técnicos a domicilio suele depender de recomendaciones, redes sociales y contactos informales.</a:t>
            </a:r>
            <a:endParaRPr sz="15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BCC0CB8-E5E2-40F8-8C70-6EE239E0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22783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E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8236BE9-934B-4C5E-A0FD-174A35AF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154680"/>
            <a:ext cx="71323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50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La información sobre especialidad, disponibilidad, precio y experiencia está dispersa y dificulta decidir con confianza.</a:t>
            </a:r>
            <a:endParaRPr sz="15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7F21B5D-5C9D-4BE6-89B9-2DF96BA4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64515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E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B5A84B9-1AB3-411C-B802-251F264A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572000"/>
            <a:ext cx="71323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50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Esta situación se toma como hipótesis de trabajo: se contrastará con usuarios potenciales, no se presenta como un hecho ya validado.</a:t>
            </a:r>
            <a:endParaRPr sz="15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C9AA048C-3422-4FBF-89A5-9AB649D9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5532120"/>
            <a:ext cx="713232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3F8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0E8F0F3-4C2F-4E44-AED0-DC2D042B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32120"/>
            <a:ext cx="6766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1B5E82"/>
                </a:solidFill>
                <a:latin typeface="Calibri"/>
                <a:ea typeface="Calibri"/>
                <a:cs typeface="Calibri"/>
              </a:rPr>
              <a:t>FIX&amp;GO busca ordenar ese proceso mediante perfiles, solicitudes, cotizaciones y seguimiento comparables.</a:t>
            </a:r>
            <a:endParaRPr sz="12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3D63996-5D88-40B9-AC6F-E8C55612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67581"/>
                </a:solidFill>
                <a:latin typeface="Calibri"/>
                <a:ea typeface="Calibri"/>
                <a:cs typeface="Calibri"/>
              </a:rPr>
              <a:t>FIX&amp;GO · Definición del Proyecto APT · Fase 1</a:t>
            </a:r>
            <a:endParaRPr sz="9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3912C01-DCFC-4A03-A21A-40ED3D09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67581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50475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991A601-394B-459C-A2A1-819E422F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B8790A"/>
                </a:solidFill>
                <a:latin typeface="Calibri"/>
                <a:ea typeface="Calibri"/>
                <a:cs typeface="Calibri"/>
              </a:rPr>
              <a:t>LA SOLUCIÓN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05E5F5-2161-4FDB-AE89-EB7AF000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C2D40"/>
                </a:solidFill>
                <a:latin typeface="Cambria"/>
                <a:ea typeface="Cambria"/>
                <a:cs typeface="Cambria"/>
              </a:rPr>
              <a:t>MVP de FIX&amp;GO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E22A7F-D8D1-4A1F-9594-EA375D34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667581"/>
                </a:solidFill>
                <a:latin typeface="Calibri"/>
                <a:ea typeface="Calibri"/>
                <a:cs typeface="Calibri"/>
              </a:rPr>
              <a:t>Recorrido funcional acotado con roles de cliente y prestador; gestión interna mediante Django Admin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C98C432-EC29-4C09-AC06-98CD13D1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1630680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C2D4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05C40E4-6E6D-49BB-9867-4D31AE50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05456"/>
            <a:ext cx="1630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C40E"/>
                </a:solidFill>
                <a:latin typeface="Cambria"/>
                <a:ea typeface="Cambria"/>
                <a:cs typeface="Cambria"/>
              </a:rPr>
              <a:t>1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9463566-1614-44CE-A135-C953CABB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980944"/>
            <a:ext cx="1484376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Perfil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3965FA6-0F6F-4184-8012-36E10A64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032" y="2788920"/>
            <a:ext cx="2926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C40E"/>
                </a:solidFill>
                <a:latin typeface="Calibri"/>
                <a:ea typeface="Calibri"/>
                <a:cs typeface="Calibri"/>
              </a:rPr>
              <a:t>→</a:t>
            </a:r>
            <a:endParaRPr sz="18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1565551-80E1-44CC-B89B-04E159A6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352" y="2377440"/>
            <a:ext cx="1630680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3A52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4A30ED9-C529-4830-B1F1-B5C05E2D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352" y="2505456"/>
            <a:ext cx="1630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C40E"/>
                </a:solidFill>
                <a:latin typeface="Cambria"/>
                <a:ea typeface="Cambria"/>
                <a:cs typeface="Cambria"/>
              </a:rPr>
              <a:t>2</a:t>
            </a:r>
            <a:endParaRPr sz="2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73FAE02-5DC0-47B7-9665-8B40EF38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504" y="2980944"/>
            <a:ext cx="1484376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Búsqueda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BAD307B-457C-41B3-80A3-523B7B05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744" y="2788920"/>
            <a:ext cx="2926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C40E"/>
                </a:solidFill>
                <a:latin typeface="Calibri"/>
                <a:ea typeface="Calibri"/>
                <a:cs typeface="Calibri"/>
              </a:rPr>
              <a:t>→</a:t>
            </a:r>
            <a:endParaRPr sz="18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C13B203-5F88-4601-89F8-E3F82296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064" y="2377440"/>
            <a:ext cx="1630680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C2D4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BEFC5C2-599C-4036-A080-68119CA5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064" y="2505456"/>
            <a:ext cx="1630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C40E"/>
                </a:solidFill>
                <a:latin typeface="Cambria"/>
                <a:ea typeface="Cambria"/>
                <a:cs typeface="Cambria"/>
              </a:rPr>
              <a:t>3</a:t>
            </a:r>
            <a:endParaRPr sz="2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A21AC59-AA31-4EC1-8F67-01B53824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216" y="2980944"/>
            <a:ext cx="1484376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Solicitud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96A5CDB-012E-4543-80D1-20F325A1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2788920"/>
            <a:ext cx="2926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C40E"/>
                </a:solidFill>
                <a:latin typeface="Calibri"/>
                <a:ea typeface="Calibri"/>
                <a:cs typeface="Calibri"/>
              </a:rPr>
              <a:t>→</a:t>
            </a:r>
            <a:endParaRPr sz="18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1A859E7-8821-4457-AEB9-7340D7B2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377440"/>
            <a:ext cx="1630680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3A52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FA234B7-6DBF-44FC-AF47-E10E43B1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505456"/>
            <a:ext cx="1630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C40E"/>
                </a:solidFill>
                <a:latin typeface="Cambria"/>
                <a:ea typeface="Cambria"/>
                <a:cs typeface="Cambria"/>
              </a:rPr>
              <a:t>4</a:t>
            </a:r>
            <a:endParaRPr sz="2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3446548-3367-4A97-AFFE-E249EA8A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980944"/>
            <a:ext cx="1484376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Cotización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5FCCA72-EEF6-4F35-8D0F-287220F2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168" y="2788920"/>
            <a:ext cx="2926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C40E"/>
                </a:solidFill>
                <a:latin typeface="Calibri"/>
                <a:ea typeface="Calibri"/>
                <a:cs typeface="Calibri"/>
              </a:rPr>
              <a:t>→</a:t>
            </a:r>
            <a:endParaRPr sz="18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28FCB21-5EF1-4D7C-8AE9-DD9A699E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488" y="2377440"/>
            <a:ext cx="1630680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C2D40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8ADCF8B-D062-4E41-A040-AFF5DEB6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488" y="2505456"/>
            <a:ext cx="1630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C40E"/>
                </a:solidFill>
                <a:latin typeface="Cambria"/>
                <a:ea typeface="Cambria"/>
                <a:cs typeface="Cambria"/>
              </a:rPr>
              <a:t>5</a:t>
            </a:r>
            <a:endParaRPr sz="2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D54E152-1FFD-4E9D-9141-4AFA2E5A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2980944"/>
            <a:ext cx="1484376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Seguimiento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0704A0F-10C7-4F13-A828-9BC6A7F9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880" y="2788920"/>
            <a:ext cx="2926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C40E"/>
                </a:solidFill>
                <a:latin typeface="Calibri"/>
                <a:ea typeface="Calibri"/>
                <a:cs typeface="Calibri"/>
              </a:rPr>
              <a:t>→</a:t>
            </a:r>
            <a:endParaRPr sz="18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406A108-4EBA-4A87-9361-C8327560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77440"/>
            <a:ext cx="1630680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3A52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E5548D0-A21D-4E95-91CE-1976E47D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05456"/>
            <a:ext cx="1630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C40E"/>
                </a:solidFill>
                <a:latin typeface="Cambria"/>
                <a:ea typeface="Cambria"/>
                <a:cs typeface="Cambria"/>
              </a:rPr>
              <a:t>6</a:t>
            </a:r>
            <a:endParaRPr sz="2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976DDAF-A30D-4882-9A07-F3049881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352" y="2980944"/>
            <a:ext cx="1484376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Valoración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90D4C77-6AD7-47D4-A846-34F2512B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60520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Aplicación móvil para iOS y Android con React Native, Expo y acceso mediante QR</a:t>
            </a:r>
            <a:endParaRPr sz="14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C694DF6-489C-41CA-A539-1B6D9D23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9160"/>
            <a:ext cx="110642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C40E"/>
          </a:solidFill>
        </p:spPr>
      </p:sp>
      <p:pic>
        <p:nvPicPr>
          <p:cNvPr id="6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6dde33caa49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4956048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C53EA5C-ECD3-4EFA-8352-EC7287EE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754880"/>
            <a:ext cx="97840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50" b="1">
                <a:solidFill>
                  <a:srgbClr val="0C2D40"/>
                </a:solidFill>
                <a:latin typeface="Calibri"/>
                <a:ea typeface="Calibri"/>
                <a:cs typeface="Calibri"/>
              </a:rPr>
              <a:t>Datos ficticios y simulaciones identificadas: credenciales, pagos y mensajería externa se muestran como demostración. No se integran cobros reales ni se certifica la calidad de un servicio real.</a:t>
            </a:r>
            <a:endParaRPr sz="13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236CB5E5-9D78-4820-B091-26D3BC26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67581"/>
                </a:solidFill>
                <a:latin typeface="Calibri"/>
                <a:ea typeface="Calibri"/>
                <a:cs typeface="Calibri"/>
              </a:rPr>
              <a:t>FIX&amp;GO · Definición del Proyecto APT · Fase 1</a:t>
            </a:r>
            <a:endParaRPr sz="9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76B34EE9-7C83-492A-9C38-004D9D05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67581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540648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560C44B-1168-41E5-BDB0-B961054C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B8790A"/>
                </a:solidFill>
                <a:latin typeface="Calibri"/>
                <a:ea typeface="Calibri"/>
                <a:cs typeface="Calibri"/>
              </a:rPr>
              <a:t>DIAGNÓSTICO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235D7C-DF82-4CA9-8B65-163D4F1E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C2D40"/>
                </a:solidFill>
                <a:latin typeface="Cambria"/>
                <a:ea typeface="Cambria"/>
                <a:cs typeface="Cambria"/>
              </a:rPr>
              <a:t>Análisis FODA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4D8ECA1-E122-44C4-B91F-96041E61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468112" cy="214884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9F5EE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403A7EE-5C8A-4D42-A490-69273AE4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82296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47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9212491-9664-4448-8819-7BF0EE77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6B47"/>
                </a:solidFill>
                <a:latin typeface="Calibri"/>
                <a:ea typeface="Calibri"/>
                <a:cs typeface="Calibri"/>
              </a:rPr>
              <a:t>Fortalezas</a:t>
            </a:r>
            <a:endParaRPr sz="1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7FCD5C-C69A-421C-B822-6F65306B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58568"/>
            <a:ext cx="49377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Problema definido, tres categorías iniciales y flujo trazable, con base modular y datos de prueba.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E8C8FEE-F436-44E2-AC23-F8EFE549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5468112" cy="214884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8F3F8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BB2A1F1-ED94-47D3-A439-54261833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82296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82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1E2B05D-6266-4989-8E63-95EF4A52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83080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B5E82"/>
                </a:solidFill>
                <a:latin typeface="Calibri"/>
                <a:ea typeface="Calibri"/>
                <a:cs typeface="Calibri"/>
              </a:rPr>
              <a:t>Oportunidades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73218D2-936A-45CC-B603-BF031F53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58568"/>
            <a:ext cx="49377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Explorar si clientes y profesionales valoran centralizar perfiles, cotizaciones y seguimiento.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95BEC25-EE48-457A-A247-D4F0EDBA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5468112" cy="214884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BF1DE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6704F1D-C7F4-476B-B411-AD00F91B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82296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A0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77E99CD-B8BF-4CA3-B41E-B237DBA0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B26A00"/>
                </a:solidFill>
                <a:latin typeface="Calibri"/>
                <a:ea typeface="Calibri"/>
                <a:cs typeface="Calibri"/>
              </a:rPr>
              <a:t>Debilidades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5BFBC8F-3AD7-47B8-98D7-31E6310F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36008"/>
            <a:ext cx="49377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Disponibilidad del equipo y experiencia en pruebas limitan el alcance; no acredita viabilidad comercial.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C765CFF-6C6E-499E-8C44-DB744A18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77640"/>
            <a:ext cx="5468112" cy="214884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BEAE7"/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B4D1237-67AD-4DED-A8A4-438A70D4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77640"/>
            <a:ext cx="82296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A2E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A80ACAC-FBFF-45D8-AC05-CBC739D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160520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A43A2E"/>
                </a:solidFill>
                <a:latin typeface="Calibri"/>
                <a:ea typeface="Calibri"/>
                <a:cs typeface="Calibri"/>
              </a:rPr>
              <a:t>Amenazas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0000CC9-ACEB-4CEC-AFEB-E8B9D842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36008"/>
            <a:ext cx="49377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Baja participación en validaciones, crecimiento de alcance y riesgo de confundir simulación con servicio real.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35933FD-1021-4CBF-9009-19ECF53E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67581"/>
                </a:solidFill>
                <a:latin typeface="Calibri"/>
                <a:ea typeface="Calibri"/>
                <a:cs typeface="Calibri"/>
              </a:rPr>
              <a:t>FIX&amp;GO · Definición del Proyecto APT · Fase 1</a:t>
            </a:r>
            <a:endParaRPr sz="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354E384-1F67-4898-9886-DF0057AC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67581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46840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25598C-A478-465C-9141-BCF7FBF2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B8790A"/>
                </a:solidFill>
                <a:latin typeface="Calibri"/>
                <a:ea typeface="Calibri"/>
                <a:cs typeface="Calibri"/>
              </a:rPr>
              <a:t>EVALUACIÓN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0C116-36B9-408A-8625-D545B783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C2D40"/>
                </a:solidFill>
                <a:latin typeface="Cambria"/>
                <a:ea typeface="Cambria"/>
                <a:cs typeface="Cambria"/>
              </a:rPr>
              <a:t>Viabilidad Técnica y Alcance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07226F1-9806-446C-BB25-7272C87A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468112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E9F5EE"/>
          </a:solidFill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b8952ca5744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810512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1A55365-F311-4C38-913D-95C0AFEA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810512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6B47"/>
                </a:solidFill>
                <a:latin typeface="Calibri"/>
                <a:ea typeface="Calibri"/>
                <a:cs typeface="Calibri"/>
              </a:rPr>
              <a:t>Incluye</a:t>
            </a:r>
            <a:endParaRPr sz="17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C3A5005-7887-4978-BB0F-597A455D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493776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•  Gas, electricidad y agua</a:t>
            </a:r>
            <a:endParaRPr sz="13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•  Perfiles, búsqueda, solicitudes y cotizaciones</a:t>
            </a:r>
            <a:endParaRPr sz="13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•  Estados de seguimiento y valoración al cierre</a:t>
            </a:r>
            <a:endParaRPr sz="13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Aplicación móvil iOS/Android con roles y datos ficticios</a:t>
            </a:r>
            <a:endParaRPr sz="13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D5DA161-088E-4370-A826-F0F16A98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5468112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BEAE7"/>
          </a:solidFill>
        </p:spPr>
      </p:sp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3d1eacfcf4f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810512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B917169-95E3-409E-9ED1-E3045013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810512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A43A2E"/>
                </a:solidFill>
                <a:latin typeface="Calibri"/>
                <a:ea typeface="Calibri"/>
                <a:cs typeface="Calibri"/>
              </a:rPr>
              <a:t>Excluye (en esta fase)</a:t>
            </a:r>
            <a:endParaRPr sz="17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4FCD097-E90F-4B3E-807E-02918BBB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77440"/>
            <a:ext cx="493776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•  Pagos reales y validación oficial de credenciales</a:t>
            </a:r>
            <a:endParaRPr sz="13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Publicación en tiendas de aplicaciones</a:t>
            </a:r>
            <a:endParaRPr sz="13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•  Expansión comercial a otros rubros</a:t>
            </a:r>
            <a:endParaRPr sz="13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•  Servicios de gran escala / nube productiva</a:t>
            </a:r>
            <a:endParaRPr sz="135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C3AB4FC-CA4E-43D0-BEEE-2F055322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C2D40"/>
                </a:solidFill>
                <a:latin typeface="Calibri"/>
                <a:ea typeface="Calibri"/>
                <a:cs typeface="Calibri"/>
              </a:rPr>
              <a:t>Stack propuesto</a:t>
            </a:r>
            <a:endParaRPr sz="13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5705252A-C8D1-4125-AC2C-1D5CBBDC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94960"/>
            <a:ext cx="2580437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D40"/>
          </a:solidFill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4B4869F-CE1E-4A4D-9398-27EED60A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94960"/>
            <a:ext cx="258043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React Native + Expo (TypeScript)</a:t>
            </a:r>
            <a:endParaRPr sz="11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E1675F19-CCC1-415F-9BE5-B6183DFD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677" y="5394960"/>
            <a:ext cx="2055571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D40"/>
          </a:solidFill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41BC0BB0-A2C5-4958-8A89-B5798FA5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677" y="5394960"/>
            <a:ext cx="2055571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Django REST + SQLite local</a:t>
            </a:r>
            <a:endParaRPr sz="11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3BBFC35C-9137-48AD-9931-5FE6E8DA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5394960"/>
            <a:ext cx="2430475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D40"/>
          </a:solidFill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6E94A76B-2242-4EC4-B92D-D6A6ECE0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5394960"/>
            <a:ext cx="2430475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 local para la API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41FC3CE-30B4-41A5-A6CF-65988804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67581"/>
                </a:solidFill>
                <a:latin typeface="Calibri"/>
                <a:ea typeface="Calibri"/>
                <a:cs typeface="Calibri"/>
              </a:rPr>
              <a:t>FIX&amp;GO · Definición del Proyecto APT · Fase 1</a:t>
            </a:r>
            <a:endParaRPr sz="9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9F8378A-76AE-424A-ACC2-A1F79D69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67581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46712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6BA6B4-8786-464E-8D84-57AC7157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B8790A"/>
                </a:solidFill>
                <a:latin typeface="Calibri"/>
                <a:ea typeface="Calibri"/>
                <a:cs typeface="Calibri"/>
              </a:rPr>
              <a:t>RECURSOS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B4802AC-D779-4DF0-9156-AADFE6E5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C2D40"/>
                </a:solidFill>
                <a:latin typeface="Cambria"/>
                <a:ea typeface="Cambria"/>
                <a:cs typeface="Cambria"/>
              </a:rPr>
              <a:t>Financiamiento del MVP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D7837CE-E59B-408F-B49C-8701D5F3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4846320" cy="4434840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0C2D4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1D5462F-247B-463A-B356-BE1CA47A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4846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0" b="1">
                <a:solidFill>
                  <a:srgbClr val="FFC40E"/>
                </a:solidFill>
                <a:latin typeface="Cambria"/>
                <a:ea typeface="Cambria"/>
                <a:cs typeface="Cambria"/>
              </a:rPr>
              <a:t>$0 CLP</a:t>
            </a:r>
            <a:endParaRPr sz="5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2387221-9FE4-4A06-ADF1-AF8AC3DF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08960"/>
            <a:ext cx="4297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Desembolso total previsto — Fase 1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F91360-A1FC-4621-A71F-BCACDCDC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1880"/>
            <a:ext cx="4114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00">
                <a:solidFill>
                  <a:srgbClr val="C9D6DD"/>
                </a:solidFill>
                <a:latin typeface="Calibri"/>
                <a:ea typeface="Calibri"/>
                <a:cs typeface="Calibri"/>
              </a:rPr>
              <a:t>Ejecución local con equipos, conectividad y herramientas gratuitas o educativas del propio equipo. Sin inversionistas, sin deuda, sin reserva adicional.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AD52CFE-CD36-4CC2-A550-8E27E16B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617720"/>
            <a:ext cx="3566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A4E6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44CBF59-0070-4659-8E61-25EC37DB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0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56 h</a:t>
            </a:r>
            <a:endParaRPr sz="2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38FCD7C-E15F-4191-8DFF-F78A372E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30368"/>
            <a:ext cx="4297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100">
                <a:solidFill>
                  <a:srgbClr val="9FB4C2"/>
                </a:solidFill>
                <a:latin typeface="Calibri"/>
                <a:ea typeface="Calibri"/>
                <a:cs typeface="Calibri"/>
              </a:rPr>
              <a:t>Trabajo técnico planificado de Benjamín en S5–S15; 10 h de reserva dentro de 66 h brutas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8D18307-5896-4F95-8908-F68362E9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91640"/>
            <a:ext cx="5943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C2D40"/>
                </a:solidFill>
                <a:latin typeface="Calibri"/>
                <a:ea typeface="Calibri"/>
                <a:cs typeface="Calibri"/>
              </a:rPr>
              <a:t>No se contrata en esta fase</a:t>
            </a:r>
            <a:endParaRPr sz="15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24119B-D949-48E6-B122-B2082341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4560"/>
            <a:ext cx="594360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BEAE7"/>
          </a:solidFill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dddf3479748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70448" y="229514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2DCBE50-C647-4655-AFA2-0C955E8A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194560"/>
            <a:ext cx="5120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Nube de pago</a:t>
            </a:r>
            <a:endParaRPr sz="13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6AB1BF6-F71B-4846-B453-7D9790F4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80360"/>
            <a:ext cx="594360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BEAE7"/>
          </a:solidFill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dddf3479748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70448" y="298094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0434C25-3B2B-4CE7-8AE1-6B2635D2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80360"/>
            <a:ext cx="5120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Dominio propio</a:t>
            </a:r>
            <a:endParaRPr sz="13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8D53CFD-F6CE-45BF-AAF2-22F693E4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6160"/>
            <a:ext cx="594360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BEAE7"/>
          </a:solidFill>
        </p:spPr>
      </p:sp>
      <p:pic>
        <p:nvPicPr>
          <p:cNvPr id="5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dddf3479748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70448" y="366674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17BA7853-4C7F-4A0C-838B-63193339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566160"/>
            <a:ext cx="5120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Incentivos monetarios para pruebas con usuarios</a:t>
            </a:r>
            <a:endParaRPr sz="1300"/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7BAF36E4-D0BE-448F-BB4F-EA10C6E4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51960"/>
            <a:ext cx="594360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BEAE7"/>
          </a:solidFill>
        </p:spPr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dddf3479748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70448" y="435254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DE5297E1-08EB-4131-94AE-4C0E6B6F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251960"/>
            <a:ext cx="5120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Publicación en tiendas de aplicaciones</a:t>
            </a:r>
            <a:endParaRPr sz="13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D88D8294-65E8-457A-963D-EE187AEC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37760"/>
            <a:ext cx="594360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BEAE7"/>
          </a:solidFill>
        </p:spPr>
      </p:sp>
      <p:pic>
        <p:nvPicPr>
          <p:cNvPr id="5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dddf3479748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70448" y="503834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5DD58D61-C07F-4A46-A5B8-F7F46679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937760"/>
            <a:ext cx="5120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Publicidad paga</a:t>
            </a:r>
            <a:endParaRPr sz="1300"/>
          </a:p>
        </p:txBody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B0652F4E-FF9D-40B7-9275-964F74DA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33288"/>
            <a:ext cx="5943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C40E"/>
          </a:solidFill>
        </p:spPr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A2DB87C0-110B-4B4E-A839-47162D72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733288"/>
            <a:ext cx="5486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0C2D40"/>
                </a:solidFill>
                <a:latin typeface="Calibri"/>
                <a:ea typeface="Calibri"/>
                <a:cs typeface="Calibri"/>
              </a:rPr>
              <a:t>Ingresos previstos del MVP: $0 CLP. La comisión del 20 % se conserva solo como hipótesis comercial simulada, sin aplicación en esta fase.</a:t>
            </a:r>
            <a:endParaRPr sz="1150"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232005F0-850F-4BFC-9C45-1B5CCFD8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67581"/>
                </a:solidFill>
                <a:latin typeface="Calibri"/>
                <a:ea typeface="Calibri"/>
                <a:cs typeface="Calibri"/>
              </a:rPr>
              <a:t>FIX&amp;GO · Definición del Proyecto APT · Fase 1</a:t>
            </a:r>
            <a:endParaRPr sz="9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DDA6A746-9F03-4C23-BF46-4DFFC59E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67581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107370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0C46B7C-5654-4139-BE2E-9B964DC8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B8790A"/>
                </a:solidFill>
                <a:latin typeface="Calibri"/>
                <a:ea typeface="Calibri"/>
                <a:cs typeface="Calibri"/>
              </a:rPr>
              <a:t>PLANIFICACIÓN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B9CBFA-758C-42D0-B9B9-AE9B0D05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C2D40"/>
                </a:solidFill>
                <a:latin typeface="Cambria"/>
                <a:ea typeface="Cambria"/>
                <a:cs typeface="Cambria"/>
              </a:rPr>
              <a:t>Cronograma Capstone — 18 Semanas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C5A509D-2A7B-4B41-8BA4-F38F6A0A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67581"/>
                </a:solidFill>
                <a:latin typeface="Calibri"/>
                <a:ea typeface="Calibri"/>
                <a:cs typeface="Calibri"/>
              </a:rPr>
              <a:t>10 de agosto al 12 de diciembre de 2026 · PTY4614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510C5CC-1A27-48E4-92C3-355226E1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91840"/>
            <a:ext cx="10698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DEE2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70FC692-1D7C-42C2-AE77-DD131338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1638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E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D78134A-BADD-4F66-BBD5-48799F8B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0604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C2D40"/>
                </a:solidFill>
                <a:latin typeface="Calibri"/>
                <a:ea typeface="Calibri"/>
                <a:cs typeface="Calibri"/>
              </a:rPr>
              <a:t>S1–4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E808838-8537-4C61-B5ED-7BFE2190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" y="3493008"/>
            <a:ext cx="2011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1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Fase 1</a:t>
            </a:r>
            <a:endParaRPr sz="1150"/>
          </a:p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1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Definición del proyecto</a:t>
            </a:r>
            <a:endParaRPr sz="11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9B6E571-3330-47CD-8FD7-960D768D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31638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2D4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19A80DE-6C60-41FE-AB94-3FFDD70D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60604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C2D40"/>
                </a:solidFill>
                <a:latin typeface="Calibri"/>
                <a:ea typeface="Calibri"/>
                <a:cs typeface="Calibri"/>
              </a:rPr>
              <a:t>S10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018CF6F-3D66-4CBE-B734-6372E62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493008"/>
            <a:ext cx="2011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1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Entrega de avance</a:t>
            </a:r>
            <a:endParaRPr sz="1150"/>
          </a:p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1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(sin presentación)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1245650-4F6C-4E85-9594-9E33978B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31638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2D4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5838A87-E7F3-4C09-BC5F-90EF595E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784" y="260604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C2D40"/>
                </a:solidFill>
                <a:latin typeface="Calibri"/>
                <a:ea typeface="Calibri"/>
                <a:cs typeface="Calibri"/>
              </a:rPr>
              <a:t>S15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62C0D6D-054D-4469-A0D1-8392D20D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493008"/>
            <a:ext cx="2011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1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Entrega del</a:t>
            </a:r>
            <a:endParaRPr sz="1150"/>
          </a:p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1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desarrollo (MVP)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2CCD981-6820-49DF-854B-BBA27DD4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424" y="31638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2D4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773DC63-798C-4C79-8440-A96B9045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260604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C2D40"/>
                </a:solidFill>
                <a:latin typeface="Calibri"/>
                <a:ea typeface="Calibri"/>
                <a:cs typeface="Calibri"/>
              </a:rPr>
              <a:t>S17–18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7160E58-671E-474B-ACD4-30EA86A4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493008"/>
            <a:ext cx="2011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1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Presentación y</a:t>
            </a:r>
            <a:endParaRPr sz="1150"/>
          </a:p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15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defensa final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4BDE830-F0B8-4493-B875-81F4B046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11064240" cy="512064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8F9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55B91E7-097E-49E2-BBF1-31605C0A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72000"/>
            <a:ext cx="21945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C2D40"/>
                </a:solidFill>
                <a:latin typeface="Calibri"/>
                <a:ea typeface="Calibri"/>
                <a:cs typeface="Calibri"/>
              </a:rPr>
              <a:t>Fase 1 · S1–4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069589A-E596-4583-A476-5AC1D11B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72000"/>
            <a:ext cx="83667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Definición, requisitos, objetivos y tecnologías propuestas.</a:t>
            </a:r>
            <a:endParaRPr sz="12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C00A12F-D201-4194-9DB3-5D6DBBE2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57216"/>
            <a:ext cx="11064240" cy="512064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6A38593-F854-4ADA-805A-86DA388B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57216"/>
            <a:ext cx="21945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C2D40"/>
                </a:solidFill>
                <a:latin typeface="Calibri"/>
                <a:ea typeface="Calibri"/>
                <a:cs typeface="Calibri"/>
              </a:rPr>
              <a:t>Fase 2 · S5–15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389511-F6C1-410F-98C9-2B77F4F3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5157216"/>
            <a:ext cx="83667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Prototipo, construcción del recorrido, avance (S10) y entrega del MVP (S15).</a:t>
            </a:r>
            <a:endParaRPr sz="1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BEF63A6-68DA-4A5C-99E7-CC1D583D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42432"/>
            <a:ext cx="11064240" cy="512064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8F9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1940A10-8540-4029-8705-0D134091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42432"/>
            <a:ext cx="21945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C2D40"/>
                </a:solidFill>
                <a:latin typeface="Calibri"/>
                <a:ea typeface="Calibri"/>
                <a:cs typeface="Calibri"/>
              </a:rPr>
              <a:t>Fase 3 · S16–18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9F6F002-7015-4579-BAEC-2C5259D3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5742432"/>
            <a:ext cx="83667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F2D36"/>
                </a:solidFill>
                <a:latin typeface="Calibri"/>
                <a:ea typeface="Calibri"/>
                <a:cs typeface="Calibri"/>
              </a:rPr>
              <a:t>Reflexión, preparación y presentación de la defensa final.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90E1270-B6B2-41D8-AE62-812D5E8A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67581"/>
                </a:solidFill>
                <a:latin typeface="Calibri"/>
                <a:ea typeface="Calibri"/>
                <a:cs typeface="Calibri"/>
              </a:rPr>
              <a:t>FIX&amp;GO · Definición del Proyecto APT · Fase 1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9217312-F9E8-49C2-9872-5D11D1E5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67581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140308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EFF5B3-3787-42BB-96CC-BD29B0B4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51560"/>
            <a:ext cx="10698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MVP académico, no una plataforma comercial operativa</a:t>
            </a:r>
            <a:endParaRPr sz="27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F4EB033-D2C1-45FE-AF6B-36FD1F47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057400"/>
            <a:ext cx="9235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350">
                <a:solidFill>
                  <a:srgbClr val="C9D6DD"/>
                </a:solidFill>
                <a:latin typeface="Calibri"/>
                <a:ea typeface="Calibri"/>
                <a:cs typeface="Calibri"/>
              </a:rPr>
              <a:t>La Fase 1 formaliza actores, alcance, historias y criterios de aceptación para un recorrido de contratación simulada — evidencia de análisis, desarrollo, calidad y gestión del Proyecto de Título.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12B18BF-BB6A-48FA-94A6-DD8130E3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46120"/>
            <a:ext cx="3520440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23A52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139EBC0-5CE3-45BC-B422-40EF49BB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29000"/>
            <a:ext cx="3063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FC40E"/>
                </a:solidFill>
                <a:latin typeface="Calibri"/>
                <a:ea typeface="Calibri"/>
                <a:cs typeface="Calibri"/>
              </a:rPr>
              <a:t>Benjamín Olmedo</a:t>
            </a:r>
            <a:endParaRPr sz="14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CEA652-828F-4948-8678-FBB16286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86200"/>
            <a:ext cx="3063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E4EBEF"/>
                </a:solidFill>
                <a:latin typeface="Calibri"/>
                <a:ea typeface="Calibri"/>
                <a:cs typeface="Calibri"/>
              </a:rPr>
              <a:t>App móvil, API Django, base de datos, integración y pruebas técnicas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B0B40C7-F6DC-4F50-A890-4863FDA0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46120"/>
            <a:ext cx="3520440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23A52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AD701E8-C12F-4B97-B9E1-6511D570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29000"/>
            <a:ext cx="3063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FC40E"/>
                </a:solidFill>
                <a:latin typeface="Calibri"/>
                <a:ea typeface="Calibri"/>
                <a:cs typeface="Calibri"/>
              </a:rPr>
              <a:t>Daniel Baeza</a:t>
            </a:r>
            <a:endParaRPr sz="14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4DDB55F-5447-448D-A8DE-1323CF9F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86200"/>
            <a:ext cx="3063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E4EBEF"/>
                </a:solidFill>
                <a:latin typeface="Calibri"/>
                <a:ea typeface="Calibri"/>
                <a:cs typeface="Calibri"/>
              </a:rPr>
              <a:t>Requisitos, backlog, planificación, documentación e informes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64A8994-668D-40FC-B81F-FB9D42BD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246120"/>
            <a:ext cx="3520440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23A52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3181C77-DBE6-442E-89C8-9A3A189B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429000"/>
            <a:ext cx="3063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FC40E"/>
                </a:solidFill>
                <a:latin typeface="Calibri"/>
                <a:ea typeface="Calibri"/>
                <a:cs typeface="Calibri"/>
              </a:rPr>
              <a:t>Felipe Arce</a:t>
            </a:r>
            <a:endParaRPr sz="14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D741CD9-2BE3-46C6-BD1E-CE5F8971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886200"/>
            <a:ext cx="3063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E4EBEF"/>
                </a:solidFill>
                <a:latin typeface="Calibri"/>
                <a:ea typeface="Calibri"/>
                <a:cs typeface="Calibri"/>
              </a:rPr>
              <a:t>Pruebas manuales, resultados y evidencia audiovisual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8F58C69-A068-408A-B79F-226A8A1A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9FB4C2"/>
                </a:solidFill>
                <a:latin typeface="Calibri"/>
                <a:ea typeface="Calibri"/>
                <a:cs typeface="Calibri"/>
              </a:rPr>
              <a:t>Capstone PTY4614  ·  Sección APT122-005D  ·  Duoc UC  ·  8 de septiembre de 2026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2585260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2026-09-09T18:31:42.6260000Z</dcterms:created>
  <dcterms:modified xsi:type="dcterms:W3CDTF">2026-09-09T18:31:42.6260000Z</dcterms:modified>
</coreProperties>
</file>